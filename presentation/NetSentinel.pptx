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198310e8-1e57-480a-5a7c-363534dac4fb}">
          <p14:sldIdLst>
            <p14:sldId id="256"/>
            <p14:sldId id="257"/>
          </p14:sldIdLst>
        </p14:section>
        <p14:section name="Starting point" id="{611e5f03-554f-a644-816a-8a4543cc2633}">
          <p14:sldIdLst>
            <p14:sldId id="258"/>
            <p14:sldId id="259"/>
            <p14:sldId id="260"/>
          </p14:sldIdLst>
        </p14:section>
        <p14:section name="Detection model" id="{e6025417-2b5e-feb2-de46-67d83f077042}">
          <p14:sldIdLst>
            <p14:sldId id="261"/>
            <p14:sldId id="262"/>
            <p14:sldId id="263"/>
            <p14:sldId id="264"/>
          </p14:sldIdLst>
        </p14:section>
        <p14:section name="Platform" id="{d556a287-664e-f8fd-bb50-e97a8a1c797a}">
          <p14:sldIdLst>
            <p14:sldId id="265"/>
            <p14:sldId id="266"/>
            <p14:sldId id="267"/>
          </p14:sldIdLst>
        </p14:section>
        <p14:section name="Live traffic" id="{1fdee3ea-3334-0a68-7636-f2d1c7b00edb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4344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4344D"/>
                </a:solidFill>
                <a:latin typeface="+mn-lt"/>
              </a:rPr>
              <a:t>Random Forest recall on the notebook's test split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Attack recall</c:v>
                </c:pt>
              </c:strCache>
            </c:strRef>
          </c:tx>
          <c:spPr>
            <a:solidFill>
              <a:srgbClr val="3E6FB0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17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Notebook (Colab)</c:v>
                  </c:pt>
                  <c:pt idx="1">
                    <c:v>scikit-learn 1.6.1</c:v>
                  </c:pt>
                  <c:pt idx="2">
                    <c:v>scikit-learn 1.9.1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0.865</c:v>
                </c:pt>
                <c:pt idx="1">
                  <c:v>0.58</c:v>
                </c:pt>
                <c:pt idx="2">
                  <c:v>0.479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0E17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434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DDE3E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7A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Per-flow features</c:v>
                </c:pt>
              </c:strCache>
            </c:strRef>
          </c:tx>
          <c:spPr>
            <a:solidFill>
              <a:srgbClr val="8A97A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17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BruteForce</c:v>
                  </c:pt>
                  <c:pt idx="1">
                    <c:v>Botnet</c:v>
                  </c:pt>
                  <c:pt idx="2">
                    <c:v>PortScan</c:v>
                  </c:pt>
                  <c:pt idx="3">
                    <c:v>WebAttack</c:v>
                  </c:pt>
                  <c:pt idx="4">
                    <c:v>DoS</c:v>
                  </c:pt>
                  <c:pt idx="5">
                    <c:v>DDoS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0.48</c:v>
                </c:pt>
                <c:pt idx="1">
                  <c:v>0.807</c:v>
                </c:pt>
                <c:pt idx="2">
                  <c:v>0.831</c:v>
                </c:pt>
                <c:pt idx="3">
                  <c:v>0.903</c:v>
                </c:pt>
                <c:pt idx="4">
                  <c:v>0.927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+ 60 s source window (v2)</c:v>
                </c:pt>
              </c:strCache>
            </c:strRef>
          </c:tx>
          <c:spPr>
            <a:solidFill>
              <a:srgbClr val="1F9D8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17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BruteForce</c:v>
                  </c:pt>
                  <c:pt idx="1">
                    <c:v>Botnet</c:v>
                  </c:pt>
                  <c:pt idx="2">
                    <c:v>PortScan</c:v>
                  </c:pt>
                  <c:pt idx="3">
                    <c:v>WebAttack</c:v>
                  </c:pt>
                  <c:pt idx="4">
                    <c:v>DoS</c:v>
                  </c:pt>
                  <c:pt idx="5">
                    <c:v>DDoS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0.963</c:v>
                </c:pt>
                <c:pt idx="2">
                  <c:v>0.921</c:v>
                </c:pt>
                <c:pt idx="3">
                  <c:v>1</c:v>
                </c:pt>
                <c:pt idx="4">
                  <c:v>0.99</c:v>
                </c:pt>
                <c:pt idx="5">
                  <c:v>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0E17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434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b"/>
        <c:majorGridlines>
          <c:spPr>
            <a:ln w="6350" cap="flat">
              <a:solidFill>
                <a:srgbClr val="DDE3E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7A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24344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Scan flows caught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17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10% false alarms</c:v>
                  </c:pt>
                  <c:pt idx="1">
                    <c:v>5% false alarms</c:v>
                  </c:pt>
                  <c:pt idx="2">
                    <c:v>2% false alarms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</c:v>
                </c:pt>
                <c:pt idx="1">
                  <c:v>0.85</c:v>
                </c:pt>
                <c:pt idx="2">
                  <c:v>0.02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SSH-guessing flows caught</c:v>
                </c:pt>
              </c:strCache>
            </c:strRef>
          </c:tx>
          <c:spPr>
            <a:solidFill>
              <a:srgbClr val="3E6FB0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17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10% false alarms</c:v>
                  </c:pt>
                  <c:pt idx="1">
                    <c:v>5% false alarms</c:v>
                  </c:pt>
                  <c:pt idx="2">
                    <c:v>2% false alarms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0.29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0E17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434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DDE3E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7A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24344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NetSentinel started as a Jupyter notebook on CICIDS-2017 and ended as a running platform: ingest API, ML detection, agents, Claude investigations, risk scoring, human-approved responses, tickets and a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headline numbers. The design principle: the model makes the detection decision, the LLM only explains with labelled evidence, and nothing is ever executed without a human.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issue was verified on the data, not assumed. The leakage check: every row with Attempted Category other than -1 has an '- Attempted'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v0 replays the notebook from raw CSVs. Isolation Forest reproduced cell-for-cell; Random Forest swung from 87% to 48% recall across library versions with the same seed.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Stages 2 and 3 never change stage 1's decision; a flow the family model can't name is still an attack.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detectors were trained on the same rows and splits; only the window features differ. v2 needed the authors' corrected CICIDS-2017 with full timestamps, because the Kaggle copy lost the hour.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Replays send flows in the order they ended, with a 60-second warm-up and no overlap between replays; live window values were checked equal to training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 talk through a Postgres event bus with at-least-once delivery. The dashboard screenshot is the live read-only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review: no secrets in git or logs, least-privilege database role, append-only audit tables, no known dependency vulnerabilities.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first alert-mode run flagged 55% of flows, including the server's own HTTPS and its Claude API calls; those 75 cases were closed and shadow mode added. The flow meter needed four fixes to match training: microseconds, exact timestamps, a double-counted first packet, and a 240-second export delay.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else is live, tested and documented in the repository (README, docs/, presentation notebook).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058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NetSentinel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NetSentinel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From a notebook to a live, human-approved detection platform</a:t>
            </a:r>
            <a:endParaRPr lang="en-US" sz="2000" dirty="0"/>
          </a:p>
        </p:txBody>
      </p:sp>
      <p:sp>
        <p:nvSpPr>
          <p:cNvPr id="4" name="logo circle"/>
          <p:cNvSpPr/>
          <p:nvPr/>
        </p:nvSpPr>
        <p:spPr>
          <a:xfrm>
            <a:off x="731520" y="731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log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960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was built, in four numbers</a:t>
            </a:r>
            <a:endParaRPr lang="en-US" sz="3200" dirty="0"/>
          </a:p>
        </p:txBody>
      </p:sp>
      <p:sp>
        <p:nvSpPr>
          <p:cNvPr id="3" name="stat 1 card"/>
          <p:cNvSpPr/>
          <p:nvPr/>
        </p:nvSpPr>
        <p:spPr>
          <a:xfrm>
            <a:off x="548640" y="164592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1 value"/>
          <p:cNvSpPr txBox="1"/>
          <p:nvPr/>
        </p:nvSpPr>
        <p:spPr>
          <a:xfrm>
            <a:off x="731520" y="192024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19/19</a:t>
            </a:r>
            <a:endParaRPr lang="en-US" sz="4400" dirty="0"/>
          </a:p>
        </p:txBody>
      </p:sp>
      <p:sp>
        <p:nvSpPr>
          <p:cNvPr id="5" name="stat 1 label"/>
          <p:cNvSpPr txBox="1"/>
          <p:nvPr/>
        </p:nvSpPr>
        <p:spPr>
          <a:xfrm>
            <a:off x="731520" y="32004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end-to-end checks passed on the live, hardened system</a:t>
            </a:r>
            <a:endParaRPr lang="en-US" sz="1500" dirty="0"/>
          </a:p>
        </p:txBody>
      </p:sp>
      <p:sp>
        <p:nvSpPr>
          <p:cNvPr id="6" name="stat 2 card"/>
          <p:cNvSpPr/>
          <p:nvPr/>
        </p:nvSpPr>
        <p:spPr>
          <a:xfrm>
            <a:off x="3383280" y="164592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 2 value"/>
          <p:cNvSpPr txBox="1"/>
          <p:nvPr/>
        </p:nvSpPr>
        <p:spPr>
          <a:xfrm>
            <a:off x="3566160" y="192024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8" name="stat 2 label"/>
          <p:cNvSpPr txBox="1"/>
          <p:nvPr/>
        </p:nvSpPr>
        <p:spPr>
          <a:xfrm>
            <a:off x="3566160" y="32004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recall on never-seen brute-force attacks (48% before v2)</a:t>
            </a:r>
            <a:endParaRPr lang="en-US" sz="1500" dirty="0"/>
          </a:p>
        </p:txBody>
      </p:sp>
      <p:sp>
        <p:nvSpPr>
          <p:cNvPr id="9" name="stat 3 card"/>
          <p:cNvSpPr/>
          <p:nvPr/>
        </p:nvSpPr>
        <p:spPr>
          <a:xfrm>
            <a:off x="6217920" y="164592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3 value"/>
          <p:cNvSpPr txBox="1"/>
          <p:nvPr/>
        </p:nvSpPr>
        <p:spPr>
          <a:xfrm>
            <a:off x="6400800" y="192024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400" dirty="0"/>
          </a:p>
        </p:txBody>
      </p:sp>
      <p:sp>
        <p:nvSpPr>
          <p:cNvPr id="11" name="stat 3 label"/>
          <p:cNvSpPr txBox="1"/>
          <p:nvPr/>
        </p:nvSpPr>
        <p:spPr>
          <a:xfrm>
            <a:off x="6400800" y="32004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pipeline steps, from ingest to dashboard, running as 9 services</a:t>
            </a:r>
            <a:endParaRPr lang="en-US" sz="1500" dirty="0"/>
          </a:p>
        </p:txBody>
      </p:sp>
      <p:sp>
        <p:nvSpPr>
          <p:cNvPr id="12" name="stat 4 card"/>
          <p:cNvSpPr/>
          <p:nvPr/>
        </p:nvSpPr>
        <p:spPr>
          <a:xfrm>
            <a:off x="9052560" y="164592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 4 value"/>
          <p:cNvSpPr txBox="1"/>
          <p:nvPr/>
        </p:nvSpPr>
        <p:spPr>
          <a:xfrm>
            <a:off x="9235440" y="192024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</a:t>
            </a:r>
            <a:endParaRPr lang="en-US" sz="4400" dirty="0"/>
          </a:p>
        </p:txBody>
      </p:sp>
      <p:sp>
        <p:nvSpPr>
          <p:cNvPr id="14" name="stat 4 label"/>
          <p:cNvSpPr txBox="1"/>
          <p:nvPr/>
        </p:nvSpPr>
        <p:spPr>
          <a:xfrm>
            <a:off x="9235440" y="32004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automated tests, including security and tamper tests</a:t>
            </a:r>
            <a:endParaRPr lang="en-US" sz="1500" dirty="0"/>
          </a:p>
        </p:txBody>
      </p:sp>
      <p:sp>
        <p:nvSpPr>
          <p:cNvPr id="15" name="tagline"/>
          <p:cNvSpPr txBox="1"/>
          <p:nvPr/>
        </p:nvSpPr>
        <p:spPr>
          <a:xfrm>
            <a:off x="548640" y="47548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Machine learning decides; Claude explains; a human approves every action.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starting point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 notebook whose results looked strong but could not be trusted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Five problems behind 96% accuracy</a:t>
            </a:r>
            <a:endParaRPr lang="en-US" sz="3200" dirty="0"/>
          </a:p>
        </p:txBody>
      </p:sp>
      <p:sp>
        <p:nvSpPr>
          <p:cNvPr id="3" name="issue 1 circle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ssu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577340"/>
            <a:ext cx="320040" cy="320040"/>
          </a:xfrm>
          <a:prstGeom prst="rect">
            <a:avLst/>
          </a:prstGeom>
        </p:spPr>
      </p:pic>
      <p:sp>
        <p:nvSpPr>
          <p:cNvPr id="5" name="issue 1 head"/>
          <p:cNvSpPr txBox="1"/>
          <p:nvPr/>
        </p:nvSpPr>
        <p:spPr>
          <a:xfrm>
            <a:off x="150876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Target leakage</a:t>
            </a:r>
            <a:endParaRPr lang="en-US" sz="1800" dirty="0"/>
          </a:p>
        </p:txBody>
      </p:sp>
      <p:sp>
        <p:nvSpPr>
          <p:cNvPr id="6" name="issue 1 body"/>
          <p:cNvSpPr txBox="1"/>
          <p:nvPr/>
        </p:nvSpPr>
        <p:spPr>
          <a:xfrm>
            <a:off x="1508760" y="176479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'Attempted Category' was a model input and marks exactly the '… - Attempted' labels</a:t>
            </a:r>
            <a:endParaRPr lang="en-US" sz="1500" dirty="0"/>
          </a:p>
        </p:txBody>
      </p:sp>
      <p:sp>
        <p:nvSpPr>
          <p:cNvPr id="7" name="issue 2 circle"/>
          <p:cNvSpPr/>
          <p:nvPr/>
        </p:nvSpPr>
        <p:spPr>
          <a:xfrm>
            <a:off x="640080" y="235000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ssu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510028"/>
            <a:ext cx="320040" cy="320040"/>
          </a:xfrm>
          <a:prstGeom prst="rect">
            <a:avLst/>
          </a:prstGeom>
        </p:spPr>
      </p:pic>
      <p:sp>
        <p:nvSpPr>
          <p:cNvPr id="9" name="issue 2 head"/>
          <p:cNvSpPr txBox="1"/>
          <p:nvPr/>
        </p:nvSpPr>
        <p:spPr>
          <a:xfrm>
            <a:off x="1508760" y="23042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Not a time split</a:t>
            </a:r>
            <a:endParaRPr lang="en-US" sz="1800" dirty="0"/>
          </a:p>
        </p:txBody>
      </p:sp>
      <p:sp>
        <p:nvSpPr>
          <p:cNvPr id="10" name="issue 2 body"/>
          <p:cNvSpPr txBox="1"/>
          <p:nvPr/>
        </p:nvSpPr>
        <p:spPr>
          <a:xfrm>
            <a:off x="1508760" y="26974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Files loaded alphabetically, so the 'future' test set held attack types absent from training</a:t>
            </a:r>
            <a:endParaRPr lang="en-US" sz="1500" dirty="0"/>
          </a:p>
        </p:txBody>
      </p:sp>
      <p:sp>
        <p:nvSpPr>
          <p:cNvPr id="11" name="issue 3 circle"/>
          <p:cNvSpPr/>
          <p:nvPr/>
        </p:nvSpPr>
        <p:spPr>
          <a:xfrm>
            <a:off x="640080" y="3282696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ssu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442716"/>
            <a:ext cx="320040" cy="320040"/>
          </a:xfrm>
          <a:prstGeom prst="rect">
            <a:avLst/>
          </a:prstGeom>
        </p:spPr>
      </p:pic>
      <p:sp>
        <p:nvSpPr>
          <p:cNvPr id="13" name="issue 3 head"/>
          <p:cNvSpPr txBox="1"/>
          <p:nvPr/>
        </p:nvSpPr>
        <p:spPr>
          <a:xfrm>
            <a:off x="1508760" y="323697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Identity, not behaviour</a:t>
            </a:r>
            <a:endParaRPr lang="en-US" sz="1800" dirty="0"/>
          </a:p>
        </p:txBody>
      </p:sp>
      <p:sp>
        <p:nvSpPr>
          <p:cNvPr id="14" name="issue 3 body"/>
          <p:cNvSpPr txBox="1"/>
          <p:nvPr/>
        </p:nvSpPr>
        <p:spPr>
          <a:xfrm>
            <a:off x="1508760" y="363016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Source and destination IPs ranked #4 and #7: the model memorised the lab's addresses</a:t>
            </a:r>
            <a:endParaRPr lang="en-US" sz="1500" dirty="0"/>
          </a:p>
        </p:txBody>
      </p:sp>
      <p:sp>
        <p:nvSpPr>
          <p:cNvPr id="15" name="issue 4 circle"/>
          <p:cNvSpPr/>
          <p:nvPr/>
        </p:nvSpPr>
        <p:spPr>
          <a:xfrm>
            <a:off x="640080" y="4215384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ssu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4375404"/>
            <a:ext cx="320040" cy="320040"/>
          </a:xfrm>
          <a:prstGeom prst="rect">
            <a:avLst/>
          </a:prstGeom>
        </p:spPr>
      </p:pic>
      <p:sp>
        <p:nvSpPr>
          <p:cNvPr id="17" name="issue 4 head"/>
          <p:cNvSpPr txBox="1"/>
          <p:nvPr/>
        </p:nvSpPr>
        <p:spPr>
          <a:xfrm>
            <a:off x="1508760" y="41696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Wrong ROC-AUC</a:t>
            </a:r>
            <a:endParaRPr lang="en-US" sz="1800" dirty="0"/>
          </a:p>
        </p:txBody>
      </p:sp>
      <p:sp>
        <p:nvSpPr>
          <p:cNvPr id="18" name="issue 4 body"/>
          <p:cNvSpPr txBox="1"/>
          <p:nvPr/>
        </p:nvSpPr>
        <p:spPr>
          <a:xfrm>
            <a:off x="1508760" y="456285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Computed from 0/1 predictions for two models: balanced accuracy reported as AUC</a:t>
            </a:r>
            <a:endParaRPr lang="en-US" sz="1500" dirty="0"/>
          </a:p>
        </p:txBody>
      </p:sp>
      <p:sp>
        <p:nvSpPr>
          <p:cNvPr id="19" name="issue 5 circle"/>
          <p:cNvSpPr/>
          <p:nvPr/>
        </p:nvSpPr>
        <p:spPr>
          <a:xfrm>
            <a:off x="640080" y="514807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ssu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5308092"/>
            <a:ext cx="320040" cy="320040"/>
          </a:xfrm>
          <a:prstGeom prst="rect">
            <a:avLst/>
          </a:prstGeom>
        </p:spPr>
      </p:pic>
      <p:sp>
        <p:nvSpPr>
          <p:cNvPr id="21" name="issue 5 head"/>
          <p:cNvSpPr txBox="1"/>
          <p:nvPr/>
        </p:nvSpPr>
        <p:spPr>
          <a:xfrm>
            <a:off x="1508760" y="51023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Binary only</a:t>
            </a:r>
            <a:endParaRPr lang="en-US" sz="1800" dirty="0"/>
          </a:p>
        </p:txBody>
      </p:sp>
      <p:sp>
        <p:nvSpPr>
          <p:cNvPr id="22" name="issue 5 body"/>
          <p:cNvSpPr txBox="1"/>
          <p:nvPr/>
        </p:nvSpPr>
        <p:spPr>
          <a:xfrm>
            <a:off x="1508760" y="549554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Attack / not attack, with no family or type for triage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Same code and seed, three different answers</a:t>
            </a:r>
            <a:endParaRPr lang="en-US" sz="3200" dirty="0"/>
          </a:p>
        </p:txBody>
      </p:sp>
      <p:graphicFrame>
        <p:nvGraphicFramePr>
          <p:cNvPr id="3" name="RF recall chart" descr=""/>
          <p:cNvGraphicFramePr/>
          <p:nvPr/>
        </p:nvGraphicFramePr>
        <p:xfrm>
          <a:off x="548640" y="137160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pro commentary"/>
          <p:cNvSpPr txBox="1"/>
          <p:nvPr/>
        </p:nvSpPr>
        <p:spPr>
          <a:xfrm>
            <a:off x="7863840" y="1554480"/>
            <a:ext cx="3749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data pipeline reproduced exactly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3,167 duplicates, 27 dropped features, 1,467,762 / 629,042 rows: identical.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headline model did not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Its test attacks were never seen in training, so catching them depended on incidental tree splits.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detection model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v1: a clean feature set and a hierarchy · v2: each source's last 60 seconds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questions, and only the first one decides</a:t>
            </a:r>
            <a:endParaRPr lang="en-US" sz="3200" dirty="0"/>
          </a:p>
        </p:txBody>
      </p:sp>
      <p:sp>
        <p:nvSpPr>
          <p:cNvPr id="3" name="stage 1 card"/>
          <p:cNvSpPr/>
          <p:nvPr/>
        </p:nvSpPr>
        <p:spPr>
          <a:xfrm>
            <a:off x="548640" y="1554480"/>
            <a:ext cx="34290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ge 1 badge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tage 1 number"/>
          <p:cNvSpPr txBox="1"/>
          <p:nvPr/>
        </p:nvSpPr>
        <p:spPr>
          <a:xfrm>
            <a:off x="8229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tage 1 head"/>
          <p:cNvSpPr txBox="1"/>
          <p:nvPr/>
        </p:nvSpPr>
        <p:spPr>
          <a:xfrm>
            <a:off x="82296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Normal or attack?</a:t>
            </a:r>
            <a:endParaRPr lang="en-US" sz="2000" dirty="0"/>
          </a:p>
        </p:txBody>
      </p:sp>
      <p:sp>
        <p:nvSpPr>
          <p:cNvPr id="7" name="stage 1 body"/>
          <p:cNvSpPr txBox="1"/>
          <p:nvPr/>
        </p:nvSpPr>
        <p:spPr>
          <a:xfrm>
            <a:off x="822960" y="3063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Decides. Threshold tuned to 0.1% false alerts</a:t>
            </a:r>
            <a:endParaRPr lang="en-US" sz="1500" dirty="0"/>
          </a:p>
        </p:txBody>
      </p:sp>
      <p:sp>
        <p:nvSpPr>
          <p:cNvPr id="8" name="stage arrow 1"/>
          <p:cNvSpPr/>
          <p:nvPr/>
        </p:nvSpPr>
        <p:spPr>
          <a:xfrm>
            <a:off x="4023360" y="2560320"/>
            <a:ext cx="274320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stage 2 card"/>
          <p:cNvSpPr/>
          <p:nvPr/>
        </p:nvSpPr>
        <p:spPr>
          <a:xfrm>
            <a:off x="4343400" y="1554480"/>
            <a:ext cx="34290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ge 2 badge"/>
          <p:cNvSpPr/>
          <p:nvPr/>
        </p:nvSpPr>
        <p:spPr>
          <a:xfrm>
            <a:off x="4617720" y="17830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tage 2 number"/>
          <p:cNvSpPr txBox="1"/>
          <p:nvPr/>
        </p:nvSpPr>
        <p:spPr>
          <a:xfrm>
            <a:off x="46177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stage 2 head"/>
          <p:cNvSpPr txBox="1"/>
          <p:nvPr/>
        </p:nvSpPr>
        <p:spPr>
          <a:xfrm>
            <a:off x="461772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Which family?</a:t>
            </a:r>
            <a:endParaRPr lang="en-US" sz="2000" dirty="0"/>
          </a:p>
        </p:txBody>
      </p:sp>
      <p:sp>
        <p:nvSpPr>
          <p:cNvPr id="13" name="stage 2 body"/>
          <p:cNvSpPr txBox="1"/>
          <p:nvPr/>
        </p:nvSpPr>
        <p:spPr>
          <a:xfrm>
            <a:off x="4617720" y="3063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Answers only at ≥ 60% confidence, else 'unknown'</a:t>
            </a:r>
            <a:endParaRPr lang="en-US" sz="1500" dirty="0"/>
          </a:p>
        </p:txBody>
      </p:sp>
      <p:sp>
        <p:nvSpPr>
          <p:cNvPr id="14" name="stage arrow 2"/>
          <p:cNvSpPr/>
          <p:nvPr/>
        </p:nvSpPr>
        <p:spPr>
          <a:xfrm>
            <a:off x="7818120" y="2560320"/>
            <a:ext cx="274320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stage 3 card"/>
          <p:cNvSpPr/>
          <p:nvPr/>
        </p:nvSpPr>
        <p:spPr>
          <a:xfrm>
            <a:off x="8138160" y="1554480"/>
            <a:ext cx="34290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age 3 badge"/>
          <p:cNvSpPr/>
          <p:nvPr/>
        </p:nvSpPr>
        <p:spPr>
          <a:xfrm>
            <a:off x="8412480" y="1783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stage 3 number"/>
          <p:cNvSpPr txBox="1"/>
          <p:nvPr/>
        </p:nvSpPr>
        <p:spPr>
          <a:xfrm>
            <a:off x="84124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stage 3 head"/>
          <p:cNvSpPr txBox="1"/>
          <p:nvPr/>
        </p:nvSpPr>
        <p:spPr>
          <a:xfrm>
            <a:off x="841248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Which attack type?</a:t>
            </a:r>
            <a:endParaRPr lang="en-US" sz="2000" dirty="0"/>
          </a:p>
        </p:txBody>
      </p:sp>
      <p:sp>
        <p:nvSpPr>
          <p:cNvPr id="19" name="stage 3 body"/>
          <p:cNvSpPr txBox="1"/>
          <p:nvPr/>
        </p:nvSpPr>
        <p:spPr>
          <a:xfrm>
            <a:off x="8412480" y="3063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Answers only at ≥ 80% confidence</a:t>
            </a:r>
            <a:endParaRPr lang="en-US" sz="1500" dirty="0"/>
          </a:p>
        </p:txBody>
      </p:sp>
      <p:sp>
        <p:nvSpPr>
          <p:cNvPr id="20" name="v1 notes"/>
          <p:cNvSpPr txBox="1"/>
          <p:nvPr/>
        </p:nvSpPr>
        <p:spPr>
          <a:xfrm>
            <a:off x="548640" y="429768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Clean inputs: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83 fixed features (no leakage, no IPs or ports-as-identity) · missing values kept, not dropped · real duplicates removed (259k, not 3k)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Attack types seen in training: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99.999% recall at 0.09% false alerts. Treat as a ceiling: CICIDS-2017 is easy when tools repeat.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Window features close the unseen-attack gaps</a:t>
            </a:r>
            <a:endParaRPr lang="en-US" sz="3200" dirty="0"/>
          </a:p>
        </p:txBody>
      </p:sp>
      <p:graphicFrame>
        <p:nvGraphicFramePr>
          <p:cNvPr id="3" name="E2 comparison chart" descr=""/>
          <p:cNvGraphicFramePr/>
          <p:nvPr/>
        </p:nvGraphicFramePr>
        <p:xfrm>
          <a:off x="548640" y="1325880"/>
          <a:ext cx="76809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E2 commentary"/>
          <p:cNvSpPr txBox="1"/>
          <p:nvPr/>
        </p:nvSpPr>
        <p:spPr>
          <a:xfrm>
            <a:off x="8503920" y="1463040"/>
            <a:ext cx="31089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How it was tested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Each family is removed from training, then tested at the same 0.1% false-alert budget.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Why it works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scan probe looks like a handshake; 997 ports in a minute does not. Features are causal: only flows already ended count.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v2 caught every attack in real replayed traffic</a:t>
            </a:r>
            <a:endParaRPr lang="en-US" sz="3200" dirty="0"/>
          </a:p>
        </p:txBody>
      </p:sp>
      <p:graphicFrame>
        <p:nvGraphicFramePr>
          <p:cNvPr id="10" name="live repla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4980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17320"/>
                <a:gridCol w="1417320"/>
                <a:gridCol w="1554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Real traffic slice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Attacks caught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Family correct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False alarms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Port scan (Fri, 1 min)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997 / 997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 / 279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FTP brute force (Tue, 2 min)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124 / 124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 / 1,816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SSH brute force (Tue, 2 min)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102 / 102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 / 1,318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Botnet attempts (Fri, 3 min)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42 / 42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 / 1,645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replay stat 1 value"/>
          <p:cNvSpPr txBox="1"/>
          <p:nvPr/>
        </p:nvSpPr>
        <p:spPr>
          <a:xfrm>
            <a:off x="548640" y="45720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1,265 / 1,265</a:t>
            </a:r>
            <a:endParaRPr lang="en-US" sz="3600" dirty="0"/>
          </a:p>
        </p:txBody>
      </p:sp>
      <p:sp>
        <p:nvSpPr>
          <p:cNvPr id="5" name="replay stat 1 label"/>
          <p:cNvSpPr txBox="1"/>
          <p:nvPr/>
        </p:nvSpPr>
        <p:spPr>
          <a:xfrm>
            <a:off x="548640" y="5303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attack flows caught</a:t>
            </a:r>
            <a:endParaRPr lang="en-US" sz="1400" dirty="0"/>
          </a:p>
        </p:txBody>
      </p:sp>
      <p:sp>
        <p:nvSpPr>
          <p:cNvPr id="6" name="replay stat 2 value"/>
          <p:cNvSpPr txBox="1"/>
          <p:nvPr/>
        </p:nvSpPr>
        <p:spPr>
          <a:xfrm>
            <a:off x="4389120" y="45720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0.28%</a:t>
            </a:r>
            <a:endParaRPr lang="en-US" sz="3600" dirty="0"/>
          </a:p>
        </p:txBody>
      </p:sp>
      <p:sp>
        <p:nvSpPr>
          <p:cNvPr id="7" name="replay stat 2 label"/>
          <p:cNvSpPr txBox="1"/>
          <p:nvPr/>
        </p:nvSpPr>
        <p:spPr>
          <a:xfrm>
            <a:off x="4389120" y="5303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false alarms on 5,058 benign flows</a:t>
            </a:r>
            <a:endParaRPr lang="en-US" sz="1400" dirty="0"/>
          </a:p>
        </p:txBody>
      </p:sp>
      <p:sp>
        <p:nvSpPr>
          <p:cNvPr id="8" name="replay check circle"/>
          <p:cNvSpPr/>
          <p:nvPr/>
        </p:nvSpPr>
        <p:spPr>
          <a:xfrm>
            <a:off x="8595360" y="15087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replay check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6810" y="1680210"/>
            <a:ext cx="342900" cy="342900"/>
          </a:xfrm>
          <a:prstGeom prst="rect">
            <a:avLst/>
          </a:prstGeom>
        </p:spPr>
      </p:pic>
      <p:sp>
        <p:nvSpPr>
          <p:cNvPr id="10" name="replay commentary"/>
          <p:cNvSpPr txBox="1"/>
          <p:nvPr/>
        </p:nvSpPr>
        <p:spPr>
          <a:xfrm>
            <a:off x="8595360" y="237744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Every attack flow caught and named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False alarms ran higher than the 0.10% seen in validation; all scored just above v2's very low threshold.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platform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Twelve steps, six agents, one human in control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From a network flow to a ticket in one pipeline</a:t>
            </a:r>
            <a:endParaRPr lang="en-US" sz="3200" dirty="0"/>
          </a:p>
        </p:txBody>
      </p:sp>
      <p:sp>
        <p:nvSpPr>
          <p:cNvPr id="3" name="step 1 circle"/>
          <p:cNvSpPr/>
          <p:nvPr/>
        </p:nvSpPr>
        <p:spPr>
          <a:xfrm>
            <a:off x="896112" y="1463040"/>
            <a:ext cx="777240" cy="7772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422" y="1657350"/>
            <a:ext cx="388620" cy="388620"/>
          </a:xfrm>
          <a:prstGeom prst="rect">
            <a:avLst/>
          </a:prstGeom>
        </p:spPr>
      </p:pic>
      <p:sp>
        <p:nvSpPr>
          <p:cNvPr id="5" name="step 1 head"/>
          <p:cNvSpPr txBox="1"/>
          <p:nvPr/>
        </p:nvSpPr>
        <p:spPr>
          <a:xfrm>
            <a:off x="54864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Ingest</a:t>
            </a:r>
            <a:endParaRPr lang="en-US" sz="1600" dirty="0"/>
          </a:p>
        </p:txBody>
      </p:sp>
      <p:sp>
        <p:nvSpPr>
          <p:cNvPr id="6" name="step 1 body"/>
          <p:cNvSpPr txBox="1"/>
          <p:nvPr/>
        </p:nvSpPr>
        <p:spPr>
          <a:xfrm>
            <a:off x="548640" y="2697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API key, validation</a:t>
            </a:r>
            <a:endParaRPr lang="en-US" sz="1200" dirty="0"/>
          </a:p>
        </p:txBody>
      </p:sp>
      <p:sp>
        <p:nvSpPr>
          <p:cNvPr id="7" name="step 2 circle"/>
          <p:cNvSpPr/>
          <p:nvPr/>
        </p:nvSpPr>
        <p:spPr>
          <a:xfrm>
            <a:off x="2496312" y="146304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622" y="1657350"/>
            <a:ext cx="388620" cy="388620"/>
          </a:xfrm>
          <a:prstGeom prst="rect">
            <a:avLst/>
          </a:prstGeom>
        </p:spPr>
      </p:pic>
      <p:sp>
        <p:nvSpPr>
          <p:cNvPr id="9" name="step 2 head"/>
          <p:cNvSpPr txBox="1"/>
          <p:nvPr/>
        </p:nvSpPr>
        <p:spPr>
          <a:xfrm>
            <a:off x="214884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Detect</a:t>
            </a:r>
            <a:endParaRPr lang="en-US" sz="1600" dirty="0"/>
          </a:p>
        </p:txBody>
      </p:sp>
      <p:sp>
        <p:nvSpPr>
          <p:cNvPr id="10" name="step 2 body"/>
          <p:cNvSpPr txBox="1"/>
          <p:nvPr/>
        </p:nvSpPr>
        <p:spPr>
          <a:xfrm>
            <a:off x="2148840" y="2697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Model Check, v2 model</a:t>
            </a:r>
            <a:endParaRPr lang="en-US" sz="1200" dirty="0"/>
          </a:p>
        </p:txBody>
      </p:sp>
      <p:sp>
        <p:nvSpPr>
          <p:cNvPr id="11" name="step 3 circle"/>
          <p:cNvSpPr/>
          <p:nvPr/>
        </p:nvSpPr>
        <p:spPr>
          <a:xfrm>
            <a:off x="4096512" y="1463040"/>
            <a:ext cx="777240" cy="7772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2" name="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822" y="1657350"/>
            <a:ext cx="388620" cy="388620"/>
          </a:xfrm>
          <a:prstGeom prst="rect">
            <a:avLst/>
          </a:prstGeom>
        </p:spPr>
      </p:pic>
      <p:sp>
        <p:nvSpPr>
          <p:cNvPr id="13" name="step 3 head"/>
          <p:cNvSpPr txBox="1"/>
          <p:nvPr/>
        </p:nvSpPr>
        <p:spPr>
          <a:xfrm>
            <a:off x="374904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Correlate</a:t>
            </a:r>
            <a:endParaRPr lang="en-US" sz="1600" dirty="0"/>
          </a:p>
        </p:txBody>
      </p:sp>
      <p:sp>
        <p:nvSpPr>
          <p:cNvPr id="14" name="step 3 body"/>
          <p:cNvSpPr txBox="1"/>
          <p:nvPr/>
        </p:nvSpPr>
        <p:spPr>
          <a:xfrm>
            <a:off x="3749040" y="2697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cases by source</a:t>
            </a:r>
            <a:endParaRPr lang="en-US" sz="1200" dirty="0"/>
          </a:p>
        </p:txBody>
      </p:sp>
      <p:sp>
        <p:nvSpPr>
          <p:cNvPr id="15" name="step 4 circle"/>
          <p:cNvSpPr/>
          <p:nvPr/>
        </p:nvSpPr>
        <p:spPr>
          <a:xfrm>
            <a:off x="5696712" y="1463040"/>
            <a:ext cx="777240" cy="7772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6" name="ste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022" y="1657350"/>
            <a:ext cx="388620" cy="388620"/>
          </a:xfrm>
          <a:prstGeom prst="rect">
            <a:avLst/>
          </a:prstGeom>
        </p:spPr>
      </p:pic>
      <p:sp>
        <p:nvSpPr>
          <p:cNvPr id="17" name="step 4 head"/>
          <p:cNvSpPr txBox="1"/>
          <p:nvPr/>
        </p:nvSpPr>
        <p:spPr>
          <a:xfrm>
            <a:off x="534924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Investigate</a:t>
            </a:r>
            <a:endParaRPr lang="en-US" sz="1600" dirty="0"/>
          </a:p>
        </p:txBody>
      </p:sp>
      <p:sp>
        <p:nvSpPr>
          <p:cNvPr id="18" name="step 4 body"/>
          <p:cNvSpPr txBox="1"/>
          <p:nvPr/>
        </p:nvSpPr>
        <p:spPr>
          <a:xfrm>
            <a:off x="5349240" y="2697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Claude, guarded</a:t>
            </a:r>
            <a:endParaRPr lang="en-US" sz="1200" dirty="0"/>
          </a:p>
        </p:txBody>
      </p:sp>
      <p:sp>
        <p:nvSpPr>
          <p:cNvPr id="19" name="step 5 circle"/>
          <p:cNvSpPr/>
          <p:nvPr/>
        </p:nvSpPr>
        <p:spPr>
          <a:xfrm>
            <a:off x="7296912" y="146304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step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1222" y="1657350"/>
            <a:ext cx="388620" cy="388620"/>
          </a:xfrm>
          <a:prstGeom prst="rect">
            <a:avLst/>
          </a:prstGeom>
        </p:spPr>
      </p:pic>
      <p:sp>
        <p:nvSpPr>
          <p:cNvPr id="21" name="step 5 head"/>
          <p:cNvSpPr txBox="1"/>
          <p:nvPr/>
        </p:nvSpPr>
        <p:spPr>
          <a:xfrm>
            <a:off x="694944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Score risk</a:t>
            </a:r>
            <a:endParaRPr lang="en-US" sz="1600" dirty="0"/>
          </a:p>
        </p:txBody>
      </p:sp>
      <p:sp>
        <p:nvSpPr>
          <p:cNvPr id="22" name="step 5 body"/>
          <p:cNvSpPr txBox="1"/>
          <p:nvPr/>
        </p:nvSpPr>
        <p:spPr>
          <a:xfrm>
            <a:off x="6949440" y="2697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explainable rules</a:t>
            </a:r>
            <a:endParaRPr lang="en-US" sz="1200" dirty="0"/>
          </a:p>
        </p:txBody>
      </p:sp>
      <p:sp>
        <p:nvSpPr>
          <p:cNvPr id="23" name="step 6 circle"/>
          <p:cNvSpPr/>
          <p:nvPr/>
        </p:nvSpPr>
        <p:spPr>
          <a:xfrm>
            <a:off x="8897112" y="146304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step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1422" y="1657350"/>
            <a:ext cx="388620" cy="388620"/>
          </a:xfrm>
          <a:prstGeom prst="rect">
            <a:avLst/>
          </a:prstGeom>
        </p:spPr>
      </p:pic>
      <p:sp>
        <p:nvSpPr>
          <p:cNvPr id="25" name="step 6 head"/>
          <p:cNvSpPr txBox="1"/>
          <p:nvPr/>
        </p:nvSpPr>
        <p:spPr>
          <a:xfrm>
            <a:off x="854964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Propose</a:t>
            </a:r>
            <a:endParaRPr lang="en-US" sz="1600" dirty="0"/>
          </a:p>
        </p:txBody>
      </p:sp>
      <p:sp>
        <p:nvSpPr>
          <p:cNvPr id="26" name="step 6 body"/>
          <p:cNvSpPr txBox="1"/>
          <p:nvPr/>
        </p:nvSpPr>
        <p:spPr>
          <a:xfrm>
            <a:off x="8549640" y="2697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reversible only</a:t>
            </a:r>
            <a:endParaRPr lang="en-US" sz="1200" dirty="0"/>
          </a:p>
        </p:txBody>
      </p:sp>
      <p:sp>
        <p:nvSpPr>
          <p:cNvPr id="27" name="step 7 circle"/>
          <p:cNvSpPr/>
          <p:nvPr/>
        </p:nvSpPr>
        <p:spPr>
          <a:xfrm>
            <a:off x="10497312" y="1463040"/>
            <a:ext cx="777240" cy="7772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8" name="step 7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1622" y="1657350"/>
            <a:ext cx="388620" cy="388620"/>
          </a:xfrm>
          <a:prstGeom prst="rect">
            <a:avLst/>
          </a:prstGeom>
        </p:spPr>
      </p:pic>
      <p:sp>
        <p:nvSpPr>
          <p:cNvPr id="29" name="step 7 head"/>
          <p:cNvSpPr txBox="1"/>
          <p:nvPr/>
        </p:nvSpPr>
        <p:spPr>
          <a:xfrm>
            <a:off x="1014984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Ticket</a:t>
            </a:r>
            <a:endParaRPr lang="en-US" sz="1600" dirty="0"/>
          </a:p>
        </p:txBody>
      </p:sp>
      <p:sp>
        <p:nvSpPr>
          <p:cNvPr id="30" name="step 7 body"/>
          <p:cNvSpPr txBox="1"/>
          <p:nvPr/>
        </p:nvSpPr>
        <p:spPr>
          <a:xfrm>
            <a:off x="10149840" y="2697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SLA, timeline</a:t>
            </a:r>
            <a:endParaRPr lang="en-US" sz="1200" dirty="0"/>
          </a:p>
        </p:txBody>
      </p:sp>
      <p:pic>
        <p:nvPicPr>
          <p:cNvPr id="31" name="dashboard screenshot" descr="dash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48640" y="3383280"/>
            <a:ext cx="4389120" cy="2651760"/>
          </a:xfrm>
          <a:prstGeom prst="rect">
            <a:avLst/>
          </a:prstGeom>
        </p:spPr>
      </p:pic>
      <p:sp>
        <p:nvSpPr>
          <p:cNvPr id="32" name="pipeline commentary"/>
          <p:cNvSpPr txBox="1"/>
          <p:nvPr/>
        </p:nvSpPr>
        <p:spPr>
          <a:xfrm>
            <a:off x="5303520" y="3429000"/>
            <a:ext cx="6309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Every investigation keeps four labelled sections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VERIFIED TELEMETRY · MODEL OUTPUT · LLM ANALYSIS · RECOMMENDATION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Claude cannot change a detection or a risk score. A guard rejects any analysis naming an IP that is not in the evidence, and strips containment steps from its advice.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human approves; secrets stay out of code</a:t>
            </a:r>
            <a:endParaRPr lang="en-US" sz="3200" dirty="0"/>
          </a:p>
        </p:txBody>
      </p:sp>
      <p:sp>
        <p:nvSpPr>
          <p:cNvPr id="3" name="control 1 card"/>
          <p:cNvSpPr/>
          <p:nvPr/>
        </p:nvSpPr>
        <p:spPr>
          <a:xfrm>
            <a:off x="548640" y="146304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ntrol 1 circle"/>
          <p:cNvSpPr/>
          <p:nvPr/>
        </p:nvSpPr>
        <p:spPr>
          <a:xfrm>
            <a:off x="868680" y="173736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control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1931670"/>
            <a:ext cx="388620" cy="388620"/>
          </a:xfrm>
          <a:prstGeom prst="rect">
            <a:avLst/>
          </a:prstGeom>
        </p:spPr>
      </p:pic>
      <p:sp>
        <p:nvSpPr>
          <p:cNvPr id="6" name="control 1 head"/>
          <p:cNvSpPr txBox="1"/>
          <p:nvPr/>
        </p:nvSpPr>
        <p:spPr>
          <a:xfrm>
            <a:off x="86868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Human approval</a:t>
            </a:r>
            <a:endParaRPr lang="en-US" sz="2000" dirty="0"/>
          </a:p>
        </p:txBody>
      </p:sp>
      <p:sp>
        <p:nvSpPr>
          <p:cNvPr id="7" name="control 1 body"/>
          <p:cNvSpPr txBox="1"/>
          <p:nvPr/>
        </p:nvSpPr>
        <p:spPr>
          <a:xfrm>
            <a:off x="868680" y="320040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Response actions are a closed list of reversible steps. The database refuses any decision by an agent; dashboard decisions re-ask for your key.</a:t>
            </a:r>
            <a:endParaRPr lang="en-US" sz="1500" dirty="0"/>
          </a:p>
        </p:txBody>
      </p:sp>
      <p:sp>
        <p:nvSpPr>
          <p:cNvPr id="8" name="control 2 card"/>
          <p:cNvSpPr/>
          <p:nvPr/>
        </p:nvSpPr>
        <p:spPr>
          <a:xfrm>
            <a:off x="4343400" y="146304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ontrol 2 circle"/>
          <p:cNvSpPr/>
          <p:nvPr/>
        </p:nvSpPr>
        <p:spPr>
          <a:xfrm>
            <a:off x="4663440" y="1737360"/>
            <a:ext cx="777240" cy="7772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control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1931670"/>
            <a:ext cx="388620" cy="388620"/>
          </a:xfrm>
          <a:prstGeom prst="rect">
            <a:avLst/>
          </a:prstGeom>
        </p:spPr>
      </p:pic>
      <p:sp>
        <p:nvSpPr>
          <p:cNvPr id="11" name="control 2 head"/>
          <p:cNvSpPr txBox="1"/>
          <p:nvPr/>
        </p:nvSpPr>
        <p:spPr>
          <a:xfrm>
            <a:off x="466344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Secrets in OpenBao</a:t>
            </a:r>
            <a:endParaRPr lang="en-US" sz="2000" dirty="0"/>
          </a:p>
        </p:txBody>
      </p:sp>
      <p:sp>
        <p:nvSpPr>
          <p:cNvPr id="12" name="control 2 body"/>
          <p:cNvSpPr txBox="1"/>
          <p:nvPr/>
        </p:nvSpPr>
        <p:spPr>
          <a:xfrm>
            <a:off x="4663440" y="320040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Database password rotates daily through the Security Wall. API keys are stored only as hashes; you created yours on your own PC.</a:t>
            </a:r>
            <a:endParaRPr lang="en-US" sz="1500" dirty="0"/>
          </a:p>
        </p:txBody>
      </p:sp>
      <p:sp>
        <p:nvSpPr>
          <p:cNvPr id="13" name="control 3 card"/>
          <p:cNvSpPr/>
          <p:nvPr/>
        </p:nvSpPr>
        <p:spPr>
          <a:xfrm>
            <a:off x="8138160" y="146304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ontrol 3 circle"/>
          <p:cNvSpPr/>
          <p:nvPr/>
        </p:nvSpPr>
        <p:spPr>
          <a:xfrm>
            <a:off x="8458200" y="17373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control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510" y="1931670"/>
            <a:ext cx="388620" cy="388620"/>
          </a:xfrm>
          <a:prstGeom prst="rect">
            <a:avLst/>
          </a:prstGeom>
        </p:spPr>
      </p:pic>
      <p:sp>
        <p:nvSpPr>
          <p:cNvPr id="16" name="control 3 head"/>
          <p:cNvSpPr txBox="1"/>
          <p:nvPr/>
        </p:nvSpPr>
        <p:spPr>
          <a:xfrm>
            <a:off x="845820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Hardened services</a:t>
            </a:r>
            <a:endParaRPr lang="en-US" sz="2000" dirty="0"/>
          </a:p>
        </p:txBody>
      </p:sp>
      <p:sp>
        <p:nvSpPr>
          <p:cNvPr id="17" name="control 3 body"/>
          <p:cNvSpPr txBox="1"/>
          <p:nvPr/>
        </p:nvSpPr>
        <p:spPr>
          <a:xfrm>
            <a:off x="8458200" y="320040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Sandbox score 8.5 → 1.6 (systemd). HTTPS with Let's Encrypt, dashboard limited to your IPs, model files hash-checked before loading.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Live traffic: ranking holds, thresholds don't</a:t>
            </a:r>
            <a:endParaRPr lang="en-US" sz="3200" dirty="0"/>
          </a:p>
        </p:txBody>
      </p:sp>
      <p:graphicFrame>
        <p:nvGraphicFramePr>
          <p:cNvPr id="3" name="live operating curve chart" descr=""/>
          <p:cNvGraphicFramePr/>
          <p:nvPr/>
        </p:nvGraphicFramePr>
        <p:xfrm>
          <a:off x="548640" y="132588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ive commentary"/>
          <p:cNvSpPr txBox="1"/>
          <p:nvPr/>
        </p:nvSpPr>
        <p:spPr>
          <a:xfrm>
            <a:off x="7680960" y="1463040"/>
            <a:ext cx="39319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Labels from the server's own logs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Firewall blocks mark scanners; failed SSH logins mark password guessing. ROC-AUC 0.95.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Decision: alerts stay off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The sensor runs in shadow mode (scored, no tickets) until calibrated on a day of data.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Next steps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Calibrate on 24 h of live traffic (netsentinel calibrate)</a:t>
            </a:r>
            <a:endParaRPr lang="en-US" sz="2000" dirty="0"/>
          </a:p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Retrain on features from the same flow meter as the sensor</a:t>
            </a:r>
            <a:endParaRPr lang="en-US" sz="2000" dirty="0"/>
          </a:p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Approve a per-source alert threshold, then switch the sensor to --alert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Sentinel">
  <a:themeElements>
    <a:clrScheme name="NetSentinel">
      <a:dk1>
        <a:srgbClr val="0E1726"/>
      </a:dk1>
      <a:lt1>
        <a:srgbClr val="FFFFFF"/>
      </a:lt1>
      <a:dk2>
        <a:srgbClr val="24344D"/>
      </a:dk2>
      <a:lt2>
        <a:srgbClr val="EEF2F7"/>
      </a:lt2>
      <a:accent1>
        <a:srgbClr val="E4572E"/>
      </a:accent1>
      <a:accent2>
        <a:srgbClr val="1F9D8B"/>
      </a:accent2>
      <a:accent3>
        <a:srgbClr val="F2B134"/>
      </a:accent3>
      <a:accent4>
        <a:srgbClr val="3E6FB0"/>
      </a:accent4>
      <a:accent5>
        <a:srgbClr val="8A97AB"/>
      </a:accent5>
      <a:accent6>
        <a:srgbClr val="7A4FB5"/>
      </a:accent6>
      <a:hlink>
        <a:srgbClr val="3E6FB0"/>
      </a:hlink>
      <a:folHlink>
        <a:srgbClr val="7A4FB5"/>
      </a:folHlink>
    </a:clrScheme>
    <a:fontScheme name="NetSentine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NetSentinel</dc:title>
  <dc:subject>PptxGenJS Presentation</dc:subject>
  <dc:creator>NetSentinel project</dc:creator>
  <cp:lastModifiedBy>NetSentinel project</cp:lastModifiedBy>
  <cp:revision>1</cp:revision>
  <dcterms:created xsi:type="dcterms:W3CDTF">2026-10-07T23:14:21Z</dcterms:created>
  <dcterms:modified xsi:type="dcterms:W3CDTF">2026-10-07T23:14:21Z</dcterms:modified>
</cp:coreProperties>
</file>